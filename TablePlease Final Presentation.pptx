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IBM Plex Sans"/>
      <p:regular r:id="rId22"/>
      <p:bold r:id="rId23"/>
      <p:italic r:id="rId24"/>
      <p:boldItalic r:id="rId25"/>
    </p:embeddedFont>
    <p:embeddedFont>
      <p:font typeface="Sora SemiBold"/>
      <p:regular r:id="rId26"/>
      <p:bold r:id="rId27"/>
    </p:embeddedFont>
    <p:embeddedFont>
      <p:font typeface="IBM Plex Sans Medium"/>
      <p:regular r:id="rId28"/>
      <p:bold r:id="rId29"/>
      <p:italic r:id="rId30"/>
      <p:boldItalic r:id="rId31"/>
    </p:embeddedFont>
    <p:embeddedFont>
      <p:font typeface="Sora Light"/>
      <p:regular r:id="rId32"/>
      <p:bold r:id="rId33"/>
    </p:embeddedFont>
    <p:embeddedFont>
      <p:font typeface="Sora ExtraLight"/>
      <p:regular r:id="rId34"/>
      <p:bold r:id="rId35"/>
    </p:embeddedFont>
    <p:embeddedFont>
      <p:font typeface="Sora"/>
      <p:regular r:id="rId36"/>
      <p:bold r:id="rId37"/>
    </p:embeddedFont>
    <p:embeddedFont>
      <p:font typeface="Sora Medium"/>
      <p:regular r:id="rId38"/>
      <p:bold r:id="rId39"/>
    </p:embeddedFont>
    <p:embeddedFont>
      <p:font typeface="IBM Plex Sans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regular.fntdata"/><Relationship Id="rId42" Type="http://schemas.openxmlformats.org/officeDocument/2006/relationships/font" Target="fonts/IBMPlexSansSemiBold-italic.fntdata"/><Relationship Id="rId41" Type="http://schemas.openxmlformats.org/officeDocument/2006/relationships/font" Target="fonts/IBMPlexSansSemiBold-bold.fntdata"/><Relationship Id="rId43" Type="http://schemas.openxmlformats.org/officeDocument/2006/relationships/font" Target="fonts/IBMPlex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Medium-boldItalic.fntdata"/><Relationship Id="rId30" Type="http://schemas.openxmlformats.org/officeDocument/2006/relationships/font" Target="fonts/IBMPlexSansMedium-italic.fntdata"/><Relationship Id="rId33" Type="http://schemas.openxmlformats.org/officeDocument/2006/relationships/font" Target="fonts/SoraLight-bold.fntdata"/><Relationship Id="rId32" Type="http://schemas.openxmlformats.org/officeDocument/2006/relationships/font" Target="fonts/SoraLight-regular.fntdata"/><Relationship Id="rId35" Type="http://schemas.openxmlformats.org/officeDocument/2006/relationships/font" Target="fonts/SoraExtraLight-bold.fntdata"/><Relationship Id="rId34" Type="http://schemas.openxmlformats.org/officeDocument/2006/relationships/font" Target="fonts/SoraExtraLight-regular.fntdata"/><Relationship Id="rId37" Type="http://schemas.openxmlformats.org/officeDocument/2006/relationships/font" Target="fonts/Sora-bold.fntdata"/><Relationship Id="rId36" Type="http://schemas.openxmlformats.org/officeDocument/2006/relationships/font" Target="fonts/Sora-regular.fntdata"/><Relationship Id="rId39" Type="http://schemas.openxmlformats.org/officeDocument/2006/relationships/font" Target="fonts/SoraMedium-bold.fntdata"/><Relationship Id="rId38" Type="http://schemas.openxmlformats.org/officeDocument/2006/relationships/font" Target="fonts/SoraMedium-regular.fntdata"/><Relationship Id="rId20" Type="http://schemas.openxmlformats.org/officeDocument/2006/relationships/slide" Target="slides/slide14.xml"/><Relationship Id="rId22" Type="http://schemas.openxmlformats.org/officeDocument/2006/relationships/font" Target="fonts/IBMPlexSans-regular.fntdata"/><Relationship Id="rId21" Type="http://schemas.openxmlformats.org/officeDocument/2006/relationships/slide" Target="slides/slide15.xml"/><Relationship Id="rId24" Type="http://schemas.openxmlformats.org/officeDocument/2006/relationships/font" Target="fonts/IBMPlexSans-italic.fntdata"/><Relationship Id="rId23" Type="http://schemas.openxmlformats.org/officeDocument/2006/relationships/font" Target="fonts/IBMPlexSans-bold.fntdata"/><Relationship Id="rId26" Type="http://schemas.openxmlformats.org/officeDocument/2006/relationships/font" Target="fonts/SoraSemiBold-regular.fntdata"/><Relationship Id="rId25" Type="http://schemas.openxmlformats.org/officeDocument/2006/relationships/font" Target="fonts/IBMPlexSans-boldItalic.fntdata"/><Relationship Id="rId28" Type="http://schemas.openxmlformats.org/officeDocument/2006/relationships/font" Target="fonts/IBMPlexSansMedium-regular.fntdata"/><Relationship Id="rId27" Type="http://schemas.openxmlformats.org/officeDocument/2006/relationships/font" Target="fonts/SoraSemiBold-bold.fntdata"/><Relationship Id="rId29" Type="http://schemas.openxmlformats.org/officeDocument/2006/relationships/font" Target="fonts/IBMPlexSans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laticon.com/free-icon/notification_2343772" TargetMode="External"/><Relationship Id="rId3" Type="http://schemas.openxmlformats.org/officeDocument/2006/relationships/hyperlink" Target="https://www.flaticon.com/free-icons/restaurant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laticon.com/free-icon/smartphone_186239?term=phone+app&amp;page=1&amp;position=1&amp;origin=search&amp;related_id=186239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laticon.com/free-icons/issue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laticon.com/free-icon/lessons_11445797?term=lessons+learned&amp;page=1&amp;position=7&amp;origin=search&amp;related_id=11445797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laticon.com/free-icon/success_1628526?term=success&amp;page=1&amp;position=5&amp;origin=search&amp;related_id=1628526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9d1d4ca0e_0_2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9d1d4ca0e_0_2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d9d1d4ca0e_0_2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d9d1d4ca0e_0_2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https://www.flaticon.com/free-icon/notification_2343772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https://www.flaticon.com/free-icons/restaurant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d9d1d4ca0e_0_3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d9d1d4ca0e_0_3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https://www.flaticon.com/free-icon/smartphone_186239?term=phone+app&amp;page=1&amp;position=1&amp;origin=search&amp;related_id=186239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d9d1d4ca0e_0_2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d9d1d4ca0e_0_2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d9d1d4ca0e_0_5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d9d1d4ca0e_0_5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d9d1d4ca0e_0_5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d9d1d4ca0e_0_5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d9d1d4ca0e_0_5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d9d1d4ca0e_0_5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d9d1d4ca0e_0_5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3d9d1d4ca0e_0_5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d9d1d4ca0e_0_5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d9d1d4ca0e_0_5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d9d1d4ca0e_0_5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d9d1d4ca0e_0_5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d9d1d4ca0e_0_5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d9d1d4ca0e_0_5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https://www.flaticon.com/free-icons/issue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d9d1d4ca0e_0_4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3d9d1d4ca0e_0_4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d9d1d4ca0e_0_5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3d9d1d4ca0e_0_5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https://www.flaticon.com/free-icon/lessons_11445797?term=lessons+learned&amp;page=1&amp;position=7&amp;origin=search&amp;related_id=11445797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d9d1d4ca0e_0_5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d9d1d4ca0e_0_5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https://www.flaticon.com/free-icon/success_1628526?term=success&amp;page=1&amp;position=5&amp;origin=search&amp;related_id=1628526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d9d1d4ca0e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3d9d1d4ca0e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TablePlease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34" name="Google Shape;934;p63"/>
          <p:cNvSpPr txBox="1"/>
          <p:nvPr/>
        </p:nvSpPr>
        <p:spPr>
          <a:xfrm>
            <a:off x="217225" y="4607925"/>
            <a:ext cx="6066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53535"/>
                </a:solidFill>
                <a:latin typeface="Sora"/>
                <a:ea typeface="Sora"/>
                <a:cs typeface="Sora"/>
                <a:sym typeface="Sora"/>
              </a:rPr>
              <a:t>By: Arshiya, Puneetha, Mohga, Pari, Parsa, and Neha</a:t>
            </a:r>
            <a:endParaRPr sz="1200">
              <a:solidFill>
                <a:srgbClr val="353535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4"/>
          <p:cNvSpPr txBox="1"/>
          <p:nvPr>
            <p:ph type="title"/>
          </p:nvPr>
        </p:nvSpPr>
        <p:spPr>
          <a:xfrm>
            <a:off x="426600" y="357775"/>
            <a:ext cx="8196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TablePlease App Background</a:t>
            </a:r>
            <a:endParaRPr sz="3300"/>
          </a:p>
        </p:txBody>
      </p:sp>
      <p:sp>
        <p:nvSpPr>
          <p:cNvPr id="940" name="Google Shape;940;p64"/>
          <p:cNvSpPr txBox="1"/>
          <p:nvPr/>
        </p:nvSpPr>
        <p:spPr>
          <a:xfrm>
            <a:off x="311700" y="1311300"/>
            <a:ext cx="87453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One stop app for reservations:</a:t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Check in at restaurant 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Notified when table is ready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Check restaurant wait times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Order ahead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Bookings for events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Domain:</a:t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Restaurant Industry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Customer Service 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Necessity - why this app is important:</a:t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Currently no well known app exists that handles all reservation related tasks in one place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Eliminates the need to check with individual restaurants regarding availability 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Allows customers to save time and energy when it comes to reservations and bookings.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41" name="Google Shape;94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125" y="1458694"/>
            <a:ext cx="1879100" cy="187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64" title="restaura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475" y="1458700"/>
            <a:ext cx="1879100" cy="18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5"/>
          <p:cNvSpPr txBox="1"/>
          <p:nvPr>
            <p:ph type="title"/>
          </p:nvPr>
        </p:nvSpPr>
        <p:spPr>
          <a:xfrm>
            <a:off x="-171000" y="227271"/>
            <a:ext cx="9486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Appealing Features of our Design</a:t>
            </a:r>
            <a:endParaRPr sz="3000"/>
          </a:p>
        </p:txBody>
      </p:sp>
      <p:sp>
        <p:nvSpPr>
          <p:cNvPr id="948" name="Google Shape;948;p65"/>
          <p:cNvSpPr txBox="1"/>
          <p:nvPr/>
        </p:nvSpPr>
        <p:spPr>
          <a:xfrm>
            <a:off x="402325" y="1732950"/>
            <a:ext cx="7242000" cy="3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9" name="Google Shape;949;p65"/>
          <p:cNvSpPr txBox="1"/>
          <p:nvPr/>
        </p:nvSpPr>
        <p:spPr>
          <a:xfrm>
            <a:off x="228600" y="1125725"/>
            <a:ext cx="6304500" cy="3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Consistent aesthetic and formatting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Relevant graphics and imagery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Access other pages easily (Back button on every screen)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Follows accessibility design standards (Large font size)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Extensive filtering system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Can be used by both 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restaurant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owners and customers of the restaurant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Personalized profiles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50" name="Google Shape;95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350" y="1208800"/>
            <a:ext cx="3521750" cy="35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956" name="Google Shape;956;p6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57" name="Google Shape;957;p6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58" name="Google Shape;958;p6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59" name="Google Shape;959;p6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60" name="Google Shape;960;p6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id="961" name="Google Shape;96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9775" y="659525"/>
            <a:ext cx="6718351" cy="42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66"/>
          <p:cNvSpPr txBox="1"/>
          <p:nvPr>
            <p:ph type="title"/>
          </p:nvPr>
        </p:nvSpPr>
        <p:spPr>
          <a:xfrm>
            <a:off x="-171000" y="79346"/>
            <a:ext cx="94860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Mock UIs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7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968" name="Google Shape;968;p67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69" name="Google Shape;969;p67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70" name="Google Shape;970;p67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71" name="Google Shape;971;p67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72" name="Google Shape;972;p67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id="973" name="Google Shape;97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902" y="262415"/>
            <a:ext cx="7584300" cy="4618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979" name="Google Shape;979;p6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80" name="Google Shape;980;p6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81" name="Google Shape;981;p6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82" name="Google Shape;982;p6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83" name="Google Shape;983;p6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id="984" name="Google Shape;98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852" y="169381"/>
            <a:ext cx="7514200" cy="480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9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990" name="Google Shape;990;p69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91" name="Google Shape;991;p69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992" name="Google Shape;992;p69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93" name="Google Shape;993;p69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94" name="Google Shape;994;p69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id="995" name="Google Shape;99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966" y="162163"/>
            <a:ext cx="7461959" cy="48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0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1001" name="Google Shape;1001;p70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1002" name="Google Shape;1002;p70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1003" name="Google Shape;1003;p70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04" name="Google Shape;1004;p70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05" name="Google Shape;1005;p70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id="1006" name="Google Shape;100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563" y="191788"/>
            <a:ext cx="7088766" cy="47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1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1012" name="Google Shape;1012;p71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1013" name="Google Shape;1013;p71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1014" name="Google Shape;1014;p71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15" name="Google Shape;1015;p71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16" name="Google Shape;1016;p71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id="1017" name="Google Shape;101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638" y="191788"/>
            <a:ext cx="6704726" cy="47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72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1023" name="Google Shape;1023;p72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1024" name="Google Shape;1024;p72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1025" name="Google Shape;1025;p72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26" name="Google Shape;1026;p72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27" name="Google Shape;1027;p72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id="1028" name="Google Shape;102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575" y="516600"/>
            <a:ext cx="8436950" cy="411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3"/>
          <p:cNvSpPr txBox="1"/>
          <p:nvPr>
            <p:ph type="title"/>
          </p:nvPr>
        </p:nvSpPr>
        <p:spPr>
          <a:xfrm>
            <a:off x="-171000" y="79346"/>
            <a:ext cx="9486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Major Challenges We Faced</a:t>
            </a:r>
            <a:endParaRPr sz="3000"/>
          </a:p>
        </p:txBody>
      </p:sp>
      <p:sp>
        <p:nvSpPr>
          <p:cNvPr id="1034" name="Google Shape;1034;p73"/>
          <p:cNvSpPr txBox="1"/>
          <p:nvPr/>
        </p:nvSpPr>
        <p:spPr>
          <a:xfrm>
            <a:off x="402325" y="1732950"/>
            <a:ext cx="7242000" cy="3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5" name="Google Shape;1035;p73"/>
          <p:cNvSpPr txBox="1"/>
          <p:nvPr/>
        </p:nvSpPr>
        <p:spPr>
          <a:xfrm>
            <a:off x="302475" y="841425"/>
            <a:ext cx="7242000" cy="3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Design:</a:t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Creating an app that doesn’t overwhelm the users with numerous features.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Designing an app that can be used by various groups of individuals. 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Ensuring the design of the app is intuitive for users and is consistent. 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Having all of our functionalities in their designated places.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Functionality:</a:t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Having each individual feature be easy for users to use. 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Ensuring that features aren’t </a:t>
            </a: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repetitive</a:t>
            </a: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and that they add to the usability of the app.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Individual:</a:t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Integrating all of our ideas and functionalities to form one cohesive design. 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Finding adequate time for everyone to work together.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36" name="Google Shape;1036;p73" title="proble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500" y="1895400"/>
            <a:ext cx="2206500" cy="22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74"/>
          <p:cNvSpPr txBox="1"/>
          <p:nvPr>
            <p:ph type="title"/>
          </p:nvPr>
        </p:nvSpPr>
        <p:spPr>
          <a:xfrm>
            <a:off x="-124050" y="228601"/>
            <a:ext cx="9486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Strategies We Used to Overcome These Challenges</a:t>
            </a:r>
            <a:endParaRPr sz="3000"/>
          </a:p>
        </p:txBody>
      </p:sp>
      <p:sp>
        <p:nvSpPr>
          <p:cNvPr id="1042" name="Google Shape;1042;p74"/>
          <p:cNvSpPr txBox="1"/>
          <p:nvPr/>
        </p:nvSpPr>
        <p:spPr>
          <a:xfrm>
            <a:off x="336750" y="1106650"/>
            <a:ext cx="85644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Design: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Designing the app layout by drawing a singular basic wireframe and using it to create the other mock UIs.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Keeping a simple and consistent design layout for every page using the same font and coloring.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Functionality: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Starting with the essential features first (check-in, waitlist, reservations).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Adding the extra features such as reviews and ratings after.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Organizing the app’s structure based on how consumers will interact with it and including back buttons on every page.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Individual:</a:t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He</a:t>
            </a: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lping each other to integrate ideas as a group to prevent any disconnect or incohesion in the design.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Meeting weekly to report on work done to ensure we stay on schedule.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75"/>
          <p:cNvSpPr txBox="1"/>
          <p:nvPr>
            <p:ph type="title"/>
          </p:nvPr>
        </p:nvSpPr>
        <p:spPr>
          <a:xfrm>
            <a:off x="-171000" y="227271"/>
            <a:ext cx="9486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Lessons Learned</a:t>
            </a:r>
            <a:endParaRPr sz="3000"/>
          </a:p>
        </p:txBody>
      </p:sp>
      <p:sp>
        <p:nvSpPr>
          <p:cNvPr id="1048" name="Google Shape;1048;p75"/>
          <p:cNvSpPr txBox="1"/>
          <p:nvPr/>
        </p:nvSpPr>
        <p:spPr>
          <a:xfrm>
            <a:off x="402325" y="1732950"/>
            <a:ext cx="7242000" cy="3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9" name="Google Shape;1049;p75"/>
          <p:cNvSpPr txBox="1"/>
          <p:nvPr/>
        </p:nvSpPr>
        <p:spPr>
          <a:xfrm>
            <a:off x="303300" y="982975"/>
            <a:ext cx="8762400" cy="3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Design: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Keep the design simple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○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Keeping the design simple and cohesive allows for easy navigation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Design for Everyone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○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accessibility and clarity benefits everyone so that everyone can understand what they are looking at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Functionality: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Fewer features done well beats many features done poorly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○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Designing core functions first (check-in, waitlist, reservations) gives us a clear foundation on app structure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○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Adding every idea we had could create a cluttered, confusing interface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Individual:</a:t>
            </a:r>
            <a:endParaRPr b="1"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Communicate well and often with your  team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○"/>
            </a:pPr>
            <a:r>
              <a:rPr lang="en" sz="1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Communicating often about what each member will accomplish allows for a cohesive effort towards completing assignments and creating good design</a:t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50" name="Google Shape;105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325" y="227275"/>
            <a:ext cx="940850" cy="94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76"/>
          <p:cNvSpPr txBox="1"/>
          <p:nvPr>
            <p:ph type="title"/>
          </p:nvPr>
        </p:nvSpPr>
        <p:spPr>
          <a:xfrm>
            <a:off x="-171000" y="227271"/>
            <a:ext cx="9486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Secrets for Success</a:t>
            </a:r>
            <a:endParaRPr sz="3000"/>
          </a:p>
        </p:txBody>
      </p:sp>
      <p:sp>
        <p:nvSpPr>
          <p:cNvPr id="1056" name="Google Shape;1056;p76"/>
          <p:cNvSpPr txBox="1"/>
          <p:nvPr/>
        </p:nvSpPr>
        <p:spPr>
          <a:xfrm>
            <a:off x="402325" y="1732950"/>
            <a:ext cx="7242000" cy="3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7" name="Google Shape;1057;p76"/>
          <p:cNvSpPr txBox="1"/>
          <p:nvPr/>
        </p:nvSpPr>
        <p:spPr>
          <a:xfrm>
            <a:off x="286750" y="982975"/>
            <a:ext cx="6702300" cy="4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●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Keep the user in mind when creating UI designs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○"/>
            </a:pPr>
            <a:r>
              <a:rPr lang="en" sz="17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Try to design the app based off of a users perspective</a:t>
            </a:r>
            <a:endParaRPr sz="17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●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Communicate with your team members regarding your design ideas, 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implementation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plans, and desired functionalities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○"/>
            </a:pPr>
            <a:r>
              <a:rPr lang="en" sz="17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Ensures there is no repetition and design is cohesive</a:t>
            </a:r>
            <a:endParaRPr sz="17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●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If possible, ask those who are not 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familiar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with the 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application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to review the design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○"/>
            </a:pPr>
            <a:r>
              <a:rPr lang="en" sz="17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This is so that you can get an outside, objective, perspective</a:t>
            </a:r>
            <a:endParaRPr sz="17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●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Do not stick to previous implementation decisions that no longer seem effective 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58" name="Google Shape;105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8900" y="1504000"/>
            <a:ext cx="2125800" cy="21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77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